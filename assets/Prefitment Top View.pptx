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C476DF-5DEE-4F0E-A9DE-F42F0BEB94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10D760-93F1-47CA-81B3-726D11A3BC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7C8E3F-4C6B-4C97-AF68-9ACDD5F259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E7099-3379-40BF-B444-4AD50A71D2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6CD24E-E515-4225-A73D-DD3177A485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90DCAA-403B-4A98-86FC-1D703E02CE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1928E0-E14A-4447-9F99-DD05B5DFDA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47AF0D-97DE-4A9D-9BA4-764E39CBAF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E4FEDB-C4E1-43B9-A4C2-638721E6D5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7ED437-0086-4392-B3A6-B6AF4BADEA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5C7DC-1890-44CA-9973-5382B13636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B56CBD-9E5F-4083-BA8E-1CFF1E5A47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36834E-25A7-49A2-BD0A-DA8BD05A8980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9" descr=""/>
          <p:cNvPicPr/>
          <p:nvPr/>
        </p:nvPicPr>
        <p:blipFill>
          <a:blip r:embed="rId1"/>
          <a:stretch/>
        </p:blipFill>
        <p:spPr>
          <a:xfrm>
            <a:off x="0" y="2038320"/>
            <a:ext cx="12191760" cy="2781000"/>
          </a:xfrm>
          <a:prstGeom prst="rect">
            <a:avLst/>
          </a:prstGeom>
          <a:ln w="0">
            <a:noFill/>
          </a:ln>
        </p:spPr>
      </p:pic>
      <p:sp>
        <p:nvSpPr>
          <p:cNvPr id="41" name="Oval 10"/>
          <p:cNvSpPr/>
          <p:nvPr/>
        </p:nvSpPr>
        <p:spPr>
          <a:xfrm>
            <a:off x="10598400" y="3855600"/>
            <a:ext cx="429120" cy="35928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Rectangle: Rounded Corners 11"/>
          <p:cNvSpPr/>
          <p:nvPr/>
        </p:nvSpPr>
        <p:spPr>
          <a:xfrm>
            <a:off x="4126320" y="2799720"/>
            <a:ext cx="435960" cy="18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Rectangle: Rounded Corners 12"/>
          <p:cNvSpPr/>
          <p:nvPr/>
        </p:nvSpPr>
        <p:spPr>
          <a:xfrm>
            <a:off x="4562640" y="2299680"/>
            <a:ext cx="722520" cy="499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Rectangle: Rounded Corners 13"/>
          <p:cNvSpPr/>
          <p:nvPr/>
        </p:nvSpPr>
        <p:spPr>
          <a:xfrm>
            <a:off x="116640" y="3094560"/>
            <a:ext cx="135720" cy="6688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Rectangle: Rounded Corners 14"/>
          <p:cNvSpPr/>
          <p:nvPr/>
        </p:nvSpPr>
        <p:spPr>
          <a:xfrm>
            <a:off x="66600" y="2670840"/>
            <a:ext cx="371880" cy="2574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Rectangle: Rounded Corners 15"/>
          <p:cNvSpPr/>
          <p:nvPr/>
        </p:nvSpPr>
        <p:spPr>
          <a:xfrm>
            <a:off x="9756360" y="2799720"/>
            <a:ext cx="576000" cy="5652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Rectangle: Rounded Corners 16"/>
          <p:cNvSpPr/>
          <p:nvPr/>
        </p:nvSpPr>
        <p:spPr>
          <a:xfrm>
            <a:off x="9320040" y="3106080"/>
            <a:ext cx="262440" cy="1814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Rectangle: Rounded Corners 17"/>
          <p:cNvSpPr/>
          <p:nvPr/>
        </p:nvSpPr>
        <p:spPr>
          <a:xfrm>
            <a:off x="11469240" y="3850920"/>
            <a:ext cx="435960" cy="18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Oval 18"/>
          <p:cNvSpPr/>
          <p:nvPr/>
        </p:nvSpPr>
        <p:spPr>
          <a:xfrm>
            <a:off x="10865520" y="3067920"/>
            <a:ext cx="324000" cy="21924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Rectangle 19"/>
          <p:cNvSpPr/>
          <p:nvPr/>
        </p:nvSpPr>
        <p:spPr>
          <a:xfrm>
            <a:off x="5175360" y="3067920"/>
            <a:ext cx="1014480" cy="78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Rectangle: Rounded Corners 20"/>
          <p:cNvSpPr/>
          <p:nvPr/>
        </p:nvSpPr>
        <p:spPr>
          <a:xfrm>
            <a:off x="6488640" y="2139480"/>
            <a:ext cx="1407960" cy="26150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Oval 21"/>
          <p:cNvSpPr/>
          <p:nvPr/>
        </p:nvSpPr>
        <p:spPr>
          <a:xfrm>
            <a:off x="6741720" y="3342960"/>
            <a:ext cx="203400" cy="23256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Rectangle: Rounded Corners 22"/>
          <p:cNvSpPr/>
          <p:nvPr/>
        </p:nvSpPr>
        <p:spPr>
          <a:xfrm>
            <a:off x="4693680" y="3754440"/>
            <a:ext cx="481680" cy="364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" name="Rectangle: Rounded Corners 23"/>
          <p:cNvSpPr/>
          <p:nvPr/>
        </p:nvSpPr>
        <p:spPr>
          <a:xfrm>
            <a:off x="3059640" y="3036240"/>
            <a:ext cx="761040" cy="918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Rectangle: Rounded Corners 24"/>
          <p:cNvSpPr/>
          <p:nvPr/>
        </p:nvSpPr>
        <p:spPr>
          <a:xfrm>
            <a:off x="1545120" y="3821760"/>
            <a:ext cx="321120" cy="1904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Rectangle: Rounded Corners 25"/>
          <p:cNvSpPr/>
          <p:nvPr/>
        </p:nvSpPr>
        <p:spPr>
          <a:xfrm>
            <a:off x="2189160" y="3766680"/>
            <a:ext cx="321120" cy="265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Oval 26"/>
          <p:cNvSpPr/>
          <p:nvPr/>
        </p:nvSpPr>
        <p:spPr>
          <a:xfrm>
            <a:off x="546840" y="3800520"/>
            <a:ext cx="321120" cy="26532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Straight Arrow Connector 28"/>
          <p:cNvSpPr/>
          <p:nvPr/>
        </p:nvSpPr>
        <p:spPr>
          <a:xfrm>
            <a:off x="6190560" y="2013120"/>
            <a:ext cx="209880" cy="127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9" name="Straight Arrow Connector 29"/>
          <p:cNvSpPr/>
          <p:nvPr/>
        </p:nvSpPr>
        <p:spPr>
          <a:xfrm flipH="1">
            <a:off x="4910040" y="1471320"/>
            <a:ext cx="128160" cy="828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0" name="Straight Arrow Connector 30"/>
          <p:cNvSpPr/>
          <p:nvPr/>
        </p:nvSpPr>
        <p:spPr>
          <a:xfrm flipV="1">
            <a:off x="4218480" y="3362760"/>
            <a:ext cx="17640" cy="748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1" name="Straight Arrow Connector 31"/>
          <p:cNvSpPr/>
          <p:nvPr/>
        </p:nvSpPr>
        <p:spPr>
          <a:xfrm flipV="1">
            <a:off x="6095880" y="3490200"/>
            <a:ext cx="645120" cy="157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" name="Straight Arrow Connector 32"/>
          <p:cNvSpPr/>
          <p:nvPr/>
        </p:nvSpPr>
        <p:spPr>
          <a:xfrm flipV="1">
            <a:off x="7394400" y="4754160"/>
            <a:ext cx="360" cy="575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3" name="Straight Arrow Connector 33"/>
          <p:cNvSpPr/>
          <p:nvPr/>
        </p:nvSpPr>
        <p:spPr>
          <a:xfrm flipV="1">
            <a:off x="11743920" y="4011840"/>
            <a:ext cx="360" cy="575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4" name="Straight Arrow Connector 34"/>
          <p:cNvSpPr/>
          <p:nvPr/>
        </p:nvSpPr>
        <p:spPr>
          <a:xfrm>
            <a:off x="11027520" y="2610720"/>
            <a:ext cx="360" cy="45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5" name="Straight Arrow Connector 35"/>
          <p:cNvSpPr/>
          <p:nvPr/>
        </p:nvSpPr>
        <p:spPr>
          <a:xfrm flipV="1">
            <a:off x="10777680" y="4214520"/>
            <a:ext cx="360" cy="338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" name="Straight Arrow Connector 42"/>
          <p:cNvSpPr/>
          <p:nvPr/>
        </p:nvSpPr>
        <p:spPr>
          <a:xfrm flipV="1">
            <a:off x="2310120" y="4032360"/>
            <a:ext cx="360" cy="44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7" name="Straight Arrow Connector 43"/>
          <p:cNvSpPr/>
          <p:nvPr/>
        </p:nvSpPr>
        <p:spPr>
          <a:xfrm>
            <a:off x="4254480" y="2391120"/>
            <a:ext cx="360" cy="408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" name="Straight Arrow Connector 45"/>
          <p:cNvSpPr/>
          <p:nvPr/>
        </p:nvSpPr>
        <p:spPr>
          <a:xfrm>
            <a:off x="3288240" y="2610720"/>
            <a:ext cx="360" cy="408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9" name="Straight Arrow Connector 46"/>
          <p:cNvSpPr/>
          <p:nvPr/>
        </p:nvSpPr>
        <p:spPr>
          <a:xfrm flipV="1">
            <a:off x="612720" y="4032360"/>
            <a:ext cx="94680" cy="1010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" name="Straight Arrow Connector 48"/>
          <p:cNvSpPr/>
          <p:nvPr/>
        </p:nvSpPr>
        <p:spPr>
          <a:xfrm flipH="1">
            <a:off x="257400" y="2589840"/>
            <a:ext cx="876240" cy="676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" name="Straight Arrow Connector 50"/>
          <p:cNvSpPr/>
          <p:nvPr/>
        </p:nvSpPr>
        <p:spPr>
          <a:xfrm>
            <a:off x="258480" y="2262240"/>
            <a:ext cx="360" cy="408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" name="Oval 51"/>
          <p:cNvSpPr/>
          <p:nvPr/>
        </p:nvSpPr>
        <p:spPr>
          <a:xfrm>
            <a:off x="3821040" y="3387240"/>
            <a:ext cx="346320" cy="28764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Straight Arrow Connector 52"/>
          <p:cNvSpPr/>
          <p:nvPr/>
        </p:nvSpPr>
        <p:spPr>
          <a:xfrm>
            <a:off x="3584520" y="1710000"/>
            <a:ext cx="334080" cy="169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" name="TextBox 54"/>
          <p:cNvSpPr/>
          <p:nvPr/>
        </p:nvSpPr>
        <p:spPr>
          <a:xfrm>
            <a:off x="11378160" y="4567680"/>
            <a:ext cx="8409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7030a0"/>
                </a:solidFill>
                <a:latin typeface="Aptos"/>
              </a:rPr>
              <a:t>B/S ARB Rear mtg BKT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5" name="TextBox 55"/>
          <p:cNvSpPr/>
          <p:nvPr/>
        </p:nvSpPr>
        <p:spPr>
          <a:xfrm>
            <a:off x="9649800" y="1735200"/>
            <a:ext cx="112752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B/S Trunnion bkt mtg on frame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" name="Straight Arrow Connector 56"/>
          <p:cNvSpPr/>
          <p:nvPr/>
        </p:nvSpPr>
        <p:spPr>
          <a:xfrm>
            <a:off x="10059840" y="2304360"/>
            <a:ext cx="360" cy="45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7" name="TextBox 57"/>
          <p:cNvSpPr/>
          <p:nvPr/>
        </p:nvSpPr>
        <p:spPr>
          <a:xfrm>
            <a:off x="3876840" y="1975680"/>
            <a:ext cx="1005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Resilense bkt(5)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" name="TextBox 59"/>
          <p:cNvSpPr/>
          <p:nvPr/>
        </p:nvSpPr>
        <p:spPr>
          <a:xfrm>
            <a:off x="-27360" y="1873800"/>
            <a:ext cx="971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7030a0"/>
                </a:solidFill>
                <a:latin typeface="Aptos"/>
              </a:rPr>
              <a:t>B/S Bumper support bkt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9" name="TextBox 60"/>
          <p:cNvSpPr/>
          <p:nvPr/>
        </p:nvSpPr>
        <p:spPr>
          <a:xfrm>
            <a:off x="990360" y="2265480"/>
            <a:ext cx="971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7030a0"/>
                </a:solidFill>
                <a:latin typeface="Aptos"/>
              </a:rPr>
              <a:t>Bumper support bkt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" name="TextBox 61"/>
          <p:cNvSpPr/>
          <p:nvPr/>
        </p:nvSpPr>
        <p:spPr>
          <a:xfrm>
            <a:off x="3715560" y="4112640"/>
            <a:ext cx="100548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APU Fitment with bkt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TextBox 62"/>
          <p:cNvSpPr/>
          <p:nvPr/>
        </p:nvSpPr>
        <p:spPr>
          <a:xfrm>
            <a:off x="2005560" y="4421160"/>
            <a:ext cx="7894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7030a0"/>
                </a:solidFill>
                <a:latin typeface="Aptos"/>
              </a:rPr>
              <a:t>B/S Eng Mtg Bkt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" name="Oval 64"/>
          <p:cNvSpPr/>
          <p:nvPr/>
        </p:nvSpPr>
        <p:spPr>
          <a:xfrm>
            <a:off x="4058280" y="3050640"/>
            <a:ext cx="342360" cy="28764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TextBox 66"/>
          <p:cNvSpPr/>
          <p:nvPr/>
        </p:nvSpPr>
        <p:spPr>
          <a:xfrm>
            <a:off x="3074400" y="1471320"/>
            <a:ext cx="1005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Relay Valve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" name="TextBox 67"/>
          <p:cNvSpPr/>
          <p:nvPr/>
        </p:nvSpPr>
        <p:spPr>
          <a:xfrm>
            <a:off x="5592960" y="5088240"/>
            <a:ext cx="1005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Relay Valve)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5" name="TextBox 68"/>
          <p:cNvSpPr/>
          <p:nvPr/>
        </p:nvSpPr>
        <p:spPr>
          <a:xfrm>
            <a:off x="6904080" y="5330880"/>
            <a:ext cx="1005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7030a0"/>
                </a:solidFill>
                <a:latin typeface="Aptos"/>
              </a:rPr>
              <a:t>Lift Axle KIT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" name="Straight Arrow Connector 69"/>
          <p:cNvSpPr/>
          <p:nvPr/>
        </p:nvSpPr>
        <p:spPr>
          <a:xfrm>
            <a:off x="9235440" y="2381400"/>
            <a:ext cx="213840" cy="70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7" name="TextBox 71"/>
          <p:cNvSpPr/>
          <p:nvPr/>
        </p:nvSpPr>
        <p:spPr>
          <a:xfrm>
            <a:off x="10819800" y="2364480"/>
            <a:ext cx="838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7030a0"/>
                </a:solidFill>
                <a:latin typeface="Aptos"/>
              </a:rPr>
              <a:t>PTC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8" name="TextBox 72"/>
          <p:cNvSpPr/>
          <p:nvPr/>
        </p:nvSpPr>
        <p:spPr>
          <a:xfrm>
            <a:off x="10230840" y="4567680"/>
            <a:ext cx="1005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7030a0"/>
                </a:solidFill>
                <a:latin typeface="Aptos"/>
              </a:rPr>
              <a:t>Articulation Stopper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" name="TextBox 74"/>
          <p:cNvSpPr/>
          <p:nvPr/>
        </p:nvSpPr>
        <p:spPr>
          <a:xfrm>
            <a:off x="4785480" y="1099080"/>
            <a:ext cx="7797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Battery Carrier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" name="TextBox 75"/>
          <p:cNvSpPr/>
          <p:nvPr/>
        </p:nvSpPr>
        <p:spPr>
          <a:xfrm>
            <a:off x="8693640" y="2165040"/>
            <a:ext cx="1005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Relay Valve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1" name="Straight Arrow Connector 76"/>
          <p:cNvSpPr/>
          <p:nvPr/>
        </p:nvSpPr>
        <p:spPr>
          <a:xfrm flipV="1">
            <a:off x="4691160" y="4118760"/>
            <a:ext cx="154800" cy="864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2" name="TextBox 78"/>
          <p:cNvSpPr/>
          <p:nvPr/>
        </p:nvSpPr>
        <p:spPr>
          <a:xfrm>
            <a:off x="4163400" y="4951080"/>
            <a:ext cx="100548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Spring Hanger Bkt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3" name="TextBox 79"/>
          <p:cNvSpPr/>
          <p:nvPr/>
        </p:nvSpPr>
        <p:spPr>
          <a:xfrm>
            <a:off x="2919960" y="2390040"/>
            <a:ext cx="1005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Link Rod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Box 80"/>
          <p:cNvSpPr/>
          <p:nvPr/>
        </p:nvSpPr>
        <p:spPr>
          <a:xfrm>
            <a:off x="234360" y="5042880"/>
            <a:ext cx="100548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Spring Hanger Bkt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traight Arrow Connector 81"/>
          <p:cNvSpPr/>
          <p:nvPr/>
        </p:nvSpPr>
        <p:spPr>
          <a:xfrm flipV="1">
            <a:off x="1706040" y="4026240"/>
            <a:ext cx="360" cy="1580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" name="TextBox 83"/>
          <p:cNvSpPr/>
          <p:nvPr/>
        </p:nvSpPr>
        <p:spPr>
          <a:xfrm>
            <a:off x="1399320" y="5589720"/>
            <a:ext cx="7894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7030a0"/>
                </a:solidFill>
                <a:latin typeface="Aptos"/>
              </a:rPr>
              <a:t>Bump Stopper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7" name="TextBox 85"/>
          <p:cNvSpPr/>
          <p:nvPr/>
        </p:nvSpPr>
        <p:spPr>
          <a:xfrm>
            <a:off x="5835240" y="1804320"/>
            <a:ext cx="1005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30a0"/>
                </a:solidFill>
                <a:latin typeface="Aptos"/>
              </a:rPr>
              <a:t>Air Tank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Application>LibreOffice/7.3.7.2$Linux_X86_64 LibreOffice_project/30$Build-2</Application>
  <AppVersion>15.0000</AppVersion>
  <Words>66</Words>
  <Paragraphs>19</Paragraphs>
  <Company>Tata Motors Ltd.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2026-06-23T06:29:56Z</dcterms:created>
  <dc:creator>SAUMEN DAS [ TMCV, CV Operations, Jamshedpur ]</dc:creator>
  <dc:description/>
  <dc:language>en-US</dc:language>
  <cp:lastModifiedBy/>
  <dcterms:modified xsi:type="dcterms:W3CDTF">2026-06-23T14:06:47Z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