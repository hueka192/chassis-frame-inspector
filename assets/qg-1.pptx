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3BC036-65CC-406E-B7B9-FD4302354C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224280" y="899640"/>
            <a:ext cx="1159488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ABB700-DB19-43CB-8069-2D46C94636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1159488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C3AFB8-A343-4A07-87F6-AFAEE4FE6C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565812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165720" y="899640"/>
            <a:ext cx="565812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64F829-1B90-460A-B230-DA581C78B7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3E9135-455D-4FF6-A4FF-F3E286DA44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ubTitle"/>
          </p:nvPr>
        </p:nvSpPr>
        <p:spPr>
          <a:xfrm>
            <a:off x="224280" y="234720"/>
            <a:ext cx="8943120" cy="24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C91CA3-E3A8-4C2F-8979-1B32DA524D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165720" y="899640"/>
            <a:ext cx="565812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224280" y="37562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D7D894-6B4E-4C5F-AA84-4DF416B878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565812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16572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165720" y="37562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5CF12A-5C28-4126-843D-7272082B17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16572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224280" y="3756240"/>
            <a:ext cx="1159488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5F80B6-0CC8-45DB-8ECC-7DD413AFEA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1159488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24280" y="3756240"/>
            <a:ext cx="1159488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F3A47F-73E8-48DD-8E48-657B6F2BC9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16572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224280" y="37562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6165720" y="37562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58CA28-7E80-4B3B-ADDF-7C7B8B5CBC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4144680" y="8996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8064720" y="8996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224280" y="37562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/>
          </p:nvPr>
        </p:nvSpPr>
        <p:spPr>
          <a:xfrm>
            <a:off x="4144680" y="37562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/>
          </p:nvPr>
        </p:nvSpPr>
        <p:spPr>
          <a:xfrm>
            <a:off x="8064720" y="37562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D9E1A5-0631-4C0F-B83E-BBDCEC81979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24280" y="899640"/>
            <a:ext cx="1159488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1159488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565812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165720" y="899640"/>
            <a:ext cx="565812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224280" y="234720"/>
            <a:ext cx="8943120" cy="24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165720" y="899640"/>
            <a:ext cx="565812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224280" y="37562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5658120" cy="54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16572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165720" y="37562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616572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224280" y="3756240"/>
            <a:ext cx="1159488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1159488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224280" y="3756240"/>
            <a:ext cx="1159488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6165720" y="8996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224280" y="37562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6165720" y="3756240"/>
            <a:ext cx="565812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224280" y="8996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4144680" y="8996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8064720" y="8996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/>
          </p:nvPr>
        </p:nvSpPr>
        <p:spPr>
          <a:xfrm>
            <a:off x="224280" y="37562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/>
          </p:nvPr>
        </p:nvSpPr>
        <p:spPr>
          <a:xfrm>
            <a:off x="4144680" y="37562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/>
          </p:nvPr>
        </p:nvSpPr>
        <p:spPr>
          <a:xfrm>
            <a:off x="8064720" y="3756240"/>
            <a:ext cx="3733200" cy="260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3" descr=""/>
          <p:cNvPicPr/>
          <p:nvPr/>
        </p:nvPicPr>
        <p:blipFill>
          <a:blip r:embed="rId2"/>
          <a:stretch/>
        </p:blipFill>
        <p:spPr>
          <a:xfrm>
            <a:off x="9302400" y="250560"/>
            <a:ext cx="2708640" cy="428040"/>
          </a:xfrm>
          <a:prstGeom prst="rect">
            <a:avLst/>
          </a:prstGeom>
          <a:ln w="0">
            <a:noFill/>
          </a:ln>
        </p:spPr>
      </p:pic>
      <p:pic>
        <p:nvPicPr>
          <p:cNvPr id="1" name="Picture 12" descr=""/>
          <p:cNvPicPr/>
          <p:nvPr/>
        </p:nvPicPr>
        <p:blipFill>
          <a:blip r:embed="rId3"/>
          <a:stretch/>
        </p:blipFill>
        <p:spPr>
          <a:xfrm>
            <a:off x="175320" y="6501240"/>
            <a:ext cx="3540600" cy="28008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4" descr=""/>
          <p:cNvPicPr/>
          <p:nvPr/>
        </p:nvPicPr>
        <p:blipFill>
          <a:blip r:embed="rId4"/>
          <a:stretch/>
        </p:blipFill>
        <p:spPr>
          <a:xfrm>
            <a:off x="-25200" y="-35640"/>
            <a:ext cx="383400" cy="650880"/>
          </a:xfrm>
          <a:prstGeom prst="rect">
            <a:avLst/>
          </a:prstGeom>
          <a:ln w="0">
            <a:noFill/>
          </a:ln>
        </p:spPr>
      </p:pic>
      <p:grpSp>
        <p:nvGrpSpPr>
          <p:cNvPr id="3" name="Group 10"/>
          <p:cNvGrpSpPr/>
          <p:nvPr/>
        </p:nvGrpSpPr>
        <p:grpSpPr>
          <a:xfrm>
            <a:off x="8767440" y="6609960"/>
            <a:ext cx="2968560" cy="249120"/>
            <a:chOff x="8767440" y="6609960"/>
            <a:chExt cx="2968560" cy="249120"/>
          </a:xfrm>
        </p:grpSpPr>
        <p:sp>
          <p:nvSpPr>
            <p:cNvPr id="4" name="TextBox 11"/>
            <p:cNvSpPr/>
            <p:nvPr/>
          </p:nvSpPr>
          <p:spPr>
            <a:xfrm>
              <a:off x="8767440" y="6617160"/>
              <a:ext cx="2968560" cy="24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IN" sz="1000" spc="-1" strike="noStrike">
                  <a:solidFill>
                    <a:srgbClr val="bfbfbf"/>
                  </a:solidFill>
                  <a:latin typeface="Calibri"/>
                </a:rPr>
                <a:t>Copyright, Confidential, Tata Motors Limited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5" name="TextBox 15"/>
            <p:cNvSpPr/>
            <p:nvPr/>
          </p:nvSpPr>
          <p:spPr>
            <a:xfrm>
              <a:off x="8878680" y="6609960"/>
              <a:ext cx="249840" cy="24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IN" sz="1000" spc="-1" strike="noStrike">
                  <a:solidFill>
                    <a:srgbClr val="bfbfbf"/>
                  </a:solidFill>
                  <a:latin typeface="Calibri"/>
                </a:rPr>
                <a:t>c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6" name="Oval 16"/>
            <p:cNvSpPr/>
            <p:nvPr/>
          </p:nvSpPr>
          <p:spPr>
            <a:xfrm>
              <a:off x="8948880" y="6674760"/>
              <a:ext cx="119520" cy="131040"/>
            </a:xfrm>
            <a:prstGeom prst="ellipse">
              <a:avLst/>
            </a:prstGeom>
            <a:noFill/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" name="TextBox 17"/>
          <p:cNvSpPr/>
          <p:nvPr/>
        </p:nvSpPr>
        <p:spPr>
          <a:xfrm>
            <a:off x="11400120" y="6499440"/>
            <a:ext cx="1173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fld id="{F9CA55EC-CD33-45CF-89EC-CE33443805FA}" type="slidenum">
              <a:rPr b="0" lang="en-US" sz="1400" spc="-1" strike="noStrike">
                <a:solidFill>
                  <a:srgbClr val="bfbfbf"/>
                </a:solidFill>
                <a:latin typeface="Calibri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IN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&lt;date/time&gt;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IN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fld id="{746D6206-8A25-49A9-B186-BD457C016112}" type="slidenum">
              <a:rPr b="0" lang="en-IN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13" descr=""/>
          <p:cNvPicPr/>
          <p:nvPr/>
        </p:nvPicPr>
        <p:blipFill>
          <a:blip r:embed="rId2"/>
          <a:stretch/>
        </p:blipFill>
        <p:spPr>
          <a:xfrm>
            <a:off x="9302400" y="250560"/>
            <a:ext cx="2708640" cy="4280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12" descr=""/>
          <p:cNvPicPr/>
          <p:nvPr/>
        </p:nvPicPr>
        <p:blipFill>
          <a:blip r:embed="rId3"/>
          <a:stretch/>
        </p:blipFill>
        <p:spPr>
          <a:xfrm>
            <a:off x="175320" y="6501240"/>
            <a:ext cx="3540600" cy="28008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14" descr=""/>
          <p:cNvPicPr/>
          <p:nvPr/>
        </p:nvPicPr>
        <p:blipFill>
          <a:blip r:embed="rId4"/>
          <a:stretch/>
        </p:blipFill>
        <p:spPr>
          <a:xfrm>
            <a:off x="-25200" y="-35640"/>
            <a:ext cx="383400" cy="650880"/>
          </a:xfrm>
          <a:prstGeom prst="rect">
            <a:avLst/>
          </a:prstGeom>
          <a:ln w="0">
            <a:noFill/>
          </a:ln>
        </p:spPr>
      </p:pic>
      <p:grpSp>
        <p:nvGrpSpPr>
          <p:cNvPr id="52" name="Group 10"/>
          <p:cNvGrpSpPr/>
          <p:nvPr/>
        </p:nvGrpSpPr>
        <p:grpSpPr>
          <a:xfrm>
            <a:off x="8767440" y="6609960"/>
            <a:ext cx="2968560" cy="249120"/>
            <a:chOff x="8767440" y="6609960"/>
            <a:chExt cx="2968560" cy="249120"/>
          </a:xfrm>
        </p:grpSpPr>
        <p:sp>
          <p:nvSpPr>
            <p:cNvPr id="53" name="TextBox 11"/>
            <p:cNvSpPr/>
            <p:nvPr/>
          </p:nvSpPr>
          <p:spPr>
            <a:xfrm>
              <a:off x="8767440" y="6617160"/>
              <a:ext cx="2968560" cy="24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IN" sz="1000" spc="-1" strike="noStrike">
                  <a:solidFill>
                    <a:srgbClr val="bfbfbf"/>
                  </a:solidFill>
                  <a:latin typeface="Calibri"/>
                </a:rPr>
                <a:t>Copyright, Confidential, Tata Motors Limited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54" name="TextBox 15"/>
            <p:cNvSpPr/>
            <p:nvPr/>
          </p:nvSpPr>
          <p:spPr>
            <a:xfrm>
              <a:off x="8878680" y="6609960"/>
              <a:ext cx="249840" cy="24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IN" sz="1000" spc="-1" strike="noStrike">
                  <a:solidFill>
                    <a:srgbClr val="bfbfbf"/>
                  </a:solidFill>
                  <a:latin typeface="Calibri"/>
                </a:rPr>
                <a:t>c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55" name="Oval 16"/>
            <p:cNvSpPr/>
            <p:nvPr/>
          </p:nvSpPr>
          <p:spPr>
            <a:xfrm>
              <a:off x="8948880" y="6674760"/>
              <a:ext cx="119520" cy="131040"/>
            </a:xfrm>
            <a:prstGeom prst="ellipse">
              <a:avLst/>
            </a:prstGeom>
            <a:noFill/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56" name="TextBox 17"/>
          <p:cNvSpPr/>
          <p:nvPr/>
        </p:nvSpPr>
        <p:spPr>
          <a:xfrm>
            <a:off x="11400120" y="6499440"/>
            <a:ext cx="1173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fld id="{EF4AF898-2B47-43C3-AC2C-76A4FF3B3DF1}" type="slidenum">
              <a:rPr b="0" lang="en-US" sz="1400" spc="-1" strike="noStrike">
                <a:solidFill>
                  <a:srgbClr val="bfbfbf"/>
                </a:solidFill>
                <a:latin typeface="Calibri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body"/>
          </p:nvPr>
        </p:nvSpPr>
        <p:spPr>
          <a:xfrm>
            <a:off x="224280" y="899640"/>
            <a:ext cx="11594880" cy="546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Uni Neue Regular"/>
              </a:rPr>
              <a:t>Click to edit Master text styles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Uni Neue Regular"/>
              </a:rPr>
              <a:t>Second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Uni Neue Regular"/>
              </a:rPr>
              <a:t>Third level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Uni Neue Regular"/>
              </a:rPr>
              <a:t>Fourth level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Uni Neue Regular"/>
              </a:rPr>
              <a:t>Fifth level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9" descr=""/>
          <p:cNvPicPr/>
          <p:nvPr/>
        </p:nvPicPr>
        <p:blipFill>
          <a:blip r:embed="rId1"/>
          <a:stretch/>
        </p:blipFill>
        <p:spPr>
          <a:xfrm>
            <a:off x="0" y="2038320"/>
            <a:ext cx="12191760" cy="2781000"/>
          </a:xfrm>
          <a:prstGeom prst="rect">
            <a:avLst/>
          </a:prstGeom>
          <a:ln w="0">
            <a:noFill/>
          </a:ln>
        </p:spPr>
      </p:pic>
      <p:sp>
        <p:nvSpPr>
          <p:cNvPr id="96" name="Rectangle: Rounded Corners 11"/>
          <p:cNvSpPr/>
          <p:nvPr/>
        </p:nvSpPr>
        <p:spPr>
          <a:xfrm>
            <a:off x="4126320" y="2799720"/>
            <a:ext cx="435960" cy="18396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Rectangle: Rounded Corners 13"/>
          <p:cNvSpPr/>
          <p:nvPr/>
        </p:nvSpPr>
        <p:spPr>
          <a:xfrm>
            <a:off x="116640" y="3094560"/>
            <a:ext cx="135720" cy="66888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Rectangle: Rounded Corners 14"/>
          <p:cNvSpPr/>
          <p:nvPr/>
        </p:nvSpPr>
        <p:spPr>
          <a:xfrm>
            <a:off x="66600" y="2670840"/>
            <a:ext cx="371880" cy="2574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Rectangle: Rounded Corners 17"/>
          <p:cNvSpPr/>
          <p:nvPr/>
        </p:nvSpPr>
        <p:spPr>
          <a:xfrm>
            <a:off x="11469240" y="3850920"/>
            <a:ext cx="435960" cy="18396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Rectangle 19"/>
          <p:cNvSpPr/>
          <p:nvPr/>
        </p:nvSpPr>
        <p:spPr>
          <a:xfrm>
            <a:off x="5175360" y="3067920"/>
            <a:ext cx="1014480" cy="78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" name="Rectangle: Rounded Corners 25"/>
          <p:cNvSpPr/>
          <p:nvPr/>
        </p:nvSpPr>
        <p:spPr>
          <a:xfrm>
            <a:off x="2189160" y="3766680"/>
            <a:ext cx="321120" cy="26532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" name="TextBox 54"/>
          <p:cNvSpPr/>
          <p:nvPr/>
        </p:nvSpPr>
        <p:spPr>
          <a:xfrm>
            <a:off x="10842840" y="5144400"/>
            <a:ext cx="1212480" cy="8197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030a0"/>
                </a:solidFill>
                <a:latin typeface="Calibri"/>
              </a:rPr>
              <a:t>B/S ARB Rear mtg BKT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3" name="TextBox 55"/>
          <p:cNvSpPr/>
          <p:nvPr/>
        </p:nvSpPr>
        <p:spPr>
          <a:xfrm>
            <a:off x="8601840" y="5109840"/>
            <a:ext cx="1743480" cy="8197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030a0"/>
                </a:solidFill>
                <a:latin typeface="Calibri"/>
              </a:rPr>
              <a:t>B/S Trunnion bkt mtg on frame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4" name="TextBox 57"/>
          <p:cNvSpPr/>
          <p:nvPr/>
        </p:nvSpPr>
        <p:spPr>
          <a:xfrm>
            <a:off x="4554000" y="1484640"/>
            <a:ext cx="1744200" cy="33300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030a0"/>
                </a:solidFill>
                <a:latin typeface="Calibri"/>
              </a:rPr>
              <a:t>Resilience bkt.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5" name="TextBox 59"/>
          <p:cNvSpPr/>
          <p:nvPr/>
        </p:nvSpPr>
        <p:spPr>
          <a:xfrm>
            <a:off x="870120" y="1377000"/>
            <a:ext cx="1479600" cy="5763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030a0"/>
                </a:solidFill>
                <a:latin typeface="Calibri"/>
              </a:rPr>
              <a:t>B/S Bumper support bkt.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6" name="TextBox 60"/>
          <p:cNvSpPr/>
          <p:nvPr/>
        </p:nvSpPr>
        <p:spPr>
          <a:xfrm>
            <a:off x="648000" y="5532120"/>
            <a:ext cx="1441440" cy="5763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030a0"/>
                </a:solidFill>
                <a:latin typeface="Calibri"/>
              </a:rPr>
              <a:t>Bumper support bkt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7" name="TextBox 61"/>
          <p:cNvSpPr/>
          <p:nvPr/>
        </p:nvSpPr>
        <p:spPr>
          <a:xfrm>
            <a:off x="5522040" y="5448240"/>
            <a:ext cx="1630800" cy="5763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030a0"/>
                </a:solidFill>
                <a:latin typeface="Calibri"/>
              </a:rPr>
              <a:t>APU Fitment with bkt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8" name="TextBox 62"/>
          <p:cNvSpPr/>
          <p:nvPr/>
        </p:nvSpPr>
        <p:spPr>
          <a:xfrm>
            <a:off x="3114360" y="5465520"/>
            <a:ext cx="1447920" cy="5763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030a0"/>
                </a:solidFill>
                <a:latin typeface="Calibri"/>
              </a:rPr>
              <a:t>B/S Eng Mtg Bkt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9" name="TextBox 72"/>
          <p:cNvSpPr/>
          <p:nvPr/>
        </p:nvSpPr>
        <p:spPr>
          <a:xfrm>
            <a:off x="9246240" y="1493640"/>
            <a:ext cx="1278360" cy="5763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IN" sz="1600" spc="-1" strike="noStrike">
                <a:solidFill>
                  <a:srgbClr val="7030a0"/>
                </a:solidFill>
                <a:latin typeface="Calibri"/>
              </a:rPr>
              <a:t>Articulation Stopper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0" name="Connector: Elbow 3"/>
          <p:cNvSpPr/>
          <p:nvPr/>
        </p:nvSpPr>
        <p:spPr>
          <a:xfrm flipH="1" flipV="1" rot="5400000">
            <a:off x="60480" y="1860840"/>
            <a:ext cx="1001160" cy="616680"/>
          </a:xfrm>
          <a:prstGeom prst="bentConnector2">
            <a:avLst/>
          </a:prstGeom>
          <a:noFill/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Connector: Elbow 5"/>
          <p:cNvSpPr/>
          <p:nvPr/>
        </p:nvSpPr>
        <p:spPr>
          <a:xfrm flipH="1" flipV="1" rot="5400000">
            <a:off x="3876480" y="2120760"/>
            <a:ext cx="1145160" cy="209520"/>
          </a:xfrm>
          <a:prstGeom prst="bentConnector2">
            <a:avLst/>
          </a:prstGeom>
          <a:noFill/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Connector: Elbow 37"/>
          <p:cNvSpPr/>
          <p:nvPr/>
        </p:nvSpPr>
        <p:spPr>
          <a:xfrm flipV="1" rot="16200000">
            <a:off x="10200600" y="2110680"/>
            <a:ext cx="925920" cy="277200"/>
          </a:xfrm>
          <a:prstGeom prst="bentConnector2">
            <a:avLst/>
          </a:prstGeom>
          <a:noFill/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" name="Rectangle: Rounded Corners 41"/>
          <p:cNvSpPr/>
          <p:nvPr/>
        </p:nvSpPr>
        <p:spPr>
          <a:xfrm>
            <a:off x="9582840" y="3620880"/>
            <a:ext cx="941400" cy="49824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" name="Connector: Elbow 44"/>
          <p:cNvSpPr/>
          <p:nvPr/>
        </p:nvSpPr>
        <p:spPr>
          <a:xfrm flipH="1" flipV="1" rot="5400000">
            <a:off x="11044440" y="4476960"/>
            <a:ext cx="1071360" cy="26244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Rectangle: Rounded Corners 58"/>
          <p:cNvSpPr/>
          <p:nvPr/>
        </p:nvSpPr>
        <p:spPr>
          <a:xfrm>
            <a:off x="10659240" y="2724480"/>
            <a:ext cx="446400" cy="40824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" name="Connector: Elbow 63"/>
          <p:cNvSpPr/>
          <p:nvPr/>
        </p:nvSpPr>
        <p:spPr>
          <a:xfrm flipH="1" flipV="1" rot="5400000">
            <a:off x="9478440" y="4595040"/>
            <a:ext cx="915480" cy="1224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Connector: Elbow 86"/>
          <p:cNvSpPr/>
          <p:nvPr/>
        </p:nvSpPr>
        <p:spPr>
          <a:xfrm rot="10800000">
            <a:off x="185040" y="3763800"/>
            <a:ext cx="462960" cy="2060640"/>
          </a:xfrm>
          <a:prstGeom prst="bentConnector2">
            <a:avLst/>
          </a:prstGeom>
          <a:noFill/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Connector: Elbow 90"/>
          <p:cNvSpPr/>
          <p:nvPr/>
        </p:nvSpPr>
        <p:spPr>
          <a:xfrm rot="10800000">
            <a:off x="2350440" y="4032720"/>
            <a:ext cx="763920" cy="1725120"/>
          </a:xfrm>
          <a:prstGeom prst="bentConnector2">
            <a:avLst/>
          </a:prstGeom>
          <a:noFill/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" name="Connector: Elbow 94"/>
          <p:cNvSpPr/>
          <p:nvPr/>
        </p:nvSpPr>
        <p:spPr>
          <a:xfrm rot="10800000">
            <a:off x="4401000" y="3195000"/>
            <a:ext cx="1121040" cy="254556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Rectangle: Rounded Corners 101"/>
          <p:cNvSpPr/>
          <p:nvPr/>
        </p:nvSpPr>
        <p:spPr>
          <a:xfrm>
            <a:off x="4040280" y="3094560"/>
            <a:ext cx="360360" cy="2484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Title 2"/>
          <p:cNvSpPr/>
          <p:nvPr/>
        </p:nvSpPr>
        <p:spPr>
          <a:xfrm>
            <a:off x="235080" y="136440"/>
            <a:ext cx="89431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Smart Inspection | Quality Gate -1 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224280" y="234720"/>
            <a:ext cx="8943120" cy="528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Quality Gate -1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224280" y="979560"/>
            <a:ext cx="4706640" cy="57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Calibri"/>
              </a:rPr>
              <a:t>Quality Checkpoints : 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B/S rear cab mtg brkt (20) fitment 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Resilience bracket (Qty :07)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Engine mounting bracket rear on frame B/S (08)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Bumper support bracket (upper lower/ Side)(08) 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APU fitment with bracket(03) /Bracket With frame (02)  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Trunnion mtg on frame  Rear axle B/S (52) 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Fuel/Urea/Bunch/Clutch pipe/Harness/AC pipe (ABS/Frame/SCR) clamping bracket  fitment (Qty:37) 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Anti-Roll bar (ARB) bracket  rear  mtg (12) castle nut (02) Pin (02)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Articulation stopper  fitted 10.9 grade (Qty :08)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55a11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c55a11"/>
                </a:solidFill>
                <a:latin typeface="Calibri"/>
              </a:rPr>
              <a:t>Rear-Frt &amp; Rear-Rr V-Rod bkt mtg (24) / V rod corner mounting(08)</a:t>
            </a:r>
            <a:endParaRPr b="0" lang="en-US" sz="16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55a11"/>
              </a:buClr>
              <a:buFont typeface="Calibri Light"/>
              <a:buAutoNum type="arabicParenR"/>
            </a:pPr>
            <a:r>
              <a:rPr b="0" lang="en-US" sz="1600" spc="-1" strike="noStrike">
                <a:solidFill>
                  <a:srgbClr val="c55a11"/>
                </a:solidFill>
                <a:latin typeface="Calibri"/>
              </a:rPr>
              <a:t>Breather plug bracket mounting on L/M (04)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6772AF7D512A46830E3040CE2CC97C" ma:contentTypeVersion="20" ma:contentTypeDescription="Create a new document." ma:contentTypeScope="" ma:versionID="23c580edc0024a62a1672f86fee0f33b">
  <xsd:schema xmlns:xsd="http://www.w3.org/2001/XMLSchema" xmlns:xs="http://www.w3.org/2001/XMLSchema" xmlns:p="http://schemas.microsoft.com/office/2006/metadata/properties" xmlns:ns2="c1f67b34-17ee-497b-83c4-5df2d9477f87" xmlns:ns3="973a35fb-2833-4aa0-85be-aab9c6ee5859" targetNamespace="http://schemas.microsoft.com/office/2006/metadata/properties" ma:root="true" ma:fieldsID="467635885ceec7ff7f0fc99362f1f07e" ns2:_="" ns3:_="">
    <xsd:import namespace="c1f67b34-17ee-497b-83c4-5df2d9477f87"/>
    <xsd:import namespace="973a35fb-2833-4aa0-85be-aab9c6ee58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Session_Date" minOccurs="0"/>
                <xsd:element ref="ns2:Speaker" minOccurs="0"/>
                <xsd:element ref="ns2:MediaServiceEventHashCode" minOccurs="0"/>
                <xsd:element ref="ns2:MediaServiceGenerationTim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67b34-17ee-497b-83c4-5df2d9477f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Session_Date" ma:index="15" nillable="true" ma:displayName="Session_Date" ma:format="DateOnly" ma:internalName="Session_Date">
      <xsd:simpleType>
        <xsd:restriction base="dms:DateTime"/>
      </xsd:simpleType>
    </xsd:element>
    <xsd:element name="Speaker" ma:index="16" nillable="true" ma:displayName="Speaker" ma:list="UserInfo" ma:SharePointGroup="0" ma:internalName="Speak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OCR" ma:index="19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8910060-619e-40f5-9968-44ccfb98e2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a35fb-2833-4aa0-85be-aab9c6ee585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39fa667-6595-4e91-9903-81101e184cb4}" ma:internalName="TaxCatchAll" ma:showField="CatchAllData" ma:web="973a35fb-2833-4aa0-85be-aab9c6ee58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3a35fb-2833-4aa0-85be-aab9c6ee5859" xsi:nil="true"/>
    <lcf76f155ced4ddcb4097134ff3c332f xmlns="c1f67b34-17ee-497b-83c4-5df2d9477f87">
      <Terms xmlns="http://schemas.microsoft.com/office/infopath/2007/PartnerControls"/>
    </lcf76f155ced4ddcb4097134ff3c332f>
    <_Flow_SignoffStatus xmlns="c1f67b34-17ee-497b-83c4-5df2d9477f87" xsi:nil="true"/>
    <Speaker xmlns="c1f67b34-17ee-497b-83c4-5df2d9477f87">
      <UserInfo>
        <DisplayName/>
        <AccountId xsi:nil="true"/>
        <AccountType/>
      </UserInfo>
    </Speaker>
    <Session_Date xmlns="c1f67b34-17ee-497b-83c4-5df2d9477f8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9792A3-A9CE-49E6-9FA7-46473E91795E}">
  <ds:schemaRefs>
    <ds:schemaRef ds:uri="973a35fb-2833-4aa0-85be-aab9c6ee5859"/>
    <ds:schemaRef ds:uri="c1f67b34-17ee-497b-83c4-5df2d9477f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E80451-4846-461D-8B68-AAD65E089C2C}">
  <ds:schemaRefs>
    <ds:schemaRef ds:uri="http://www.w3.org/XML/1998/namespace"/>
    <ds:schemaRef ds:uri="http://purl.org/dc/terms/"/>
    <ds:schemaRef ds:uri="973a35fb-2833-4aa0-85be-aab9c6ee5859"/>
    <ds:schemaRef ds:uri="c1f67b34-17ee-497b-83c4-5df2d9477f87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06C19DF-4AA9-4763-B12A-79BDD56011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Internal PowerPoint template</Template>
  <TotalTime>825</TotalTime>
  <Application>LibreOffice/7.3.7.2$Linux_X86_64 LibreOffice_project/30$Build-2</Application>
  <AppVersion>15.0000</AppVersion>
  <Words>207</Words>
  <Paragraphs>22</Paragraphs>
  <Company>Tata Motors Ltd.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2026-04-23T09:53:13Z</dcterms:created>
  <dc:creator>SRIJAN RAJ [ TMCV, CV Operations, Pune ]</dc:creator>
  <dc:description/>
  <dc:language>en-US</dc:language>
  <cp:lastModifiedBy/>
  <dcterms:modified xsi:type="dcterms:W3CDTF">2026-06-23T17:17:28Z</dcterms:modified>
  <cp:revision>39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0x010100866772AF7D512A46830E3040CE2CC97C</vt:lpwstr>
  </property>
  <property fmtid="{D5CDD505-2E9C-101B-9397-08002B2CF9AE}" pid="3" name="MediaServiceImageTags">
    <vt:lpwstr/>
  </property>
  <property fmtid="{D5CDD505-2E9C-101B-9397-08002B2CF9AE}" pid="4" name="PresentationFormat">
    <vt:lpwstr>Widescreen</vt:lpwstr>
  </property>
  <property fmtid="{D5CDD505-2E9C-101B-9397-08002B2CF9AE}" pid="5" name="Slides">
    <vt:i4>2</vt:i4>
  </property>
</Properties>
</file>